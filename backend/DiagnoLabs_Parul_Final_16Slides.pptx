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17220"/>
            <a:ext cx="8229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DiagnoLabs | Final Major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Parul University - Dept. of AIML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9966960" cy="4846320"/>
          </a:xfrm>
          <a:prstGeom prst="rect">
            <a:avLst/>
          </a:prstGeom>
          <a:solidFill>
            <a:srgbClr val="131C31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</a:rPr>
              <a:t>DIAGNOLABS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19202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Enterprise Medical Diagnostics &amp; AI Clinical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3317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 Geospatial &amp; Telemetry-Driven Self-Learning AI Platform for Accredited Pathology Access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2834640"/>
            <a:ext cx="7589520" cy="0"/>
          </a:xfrm>
          <a:prstGeom prst="line">
            <a:avLst/>
          </a:prstGeom>
          <a:noFill/>
          <a:ln w="1905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30175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Project Team (DiagnoLabs):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1. D. Venkata Sai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2. M. Srikanth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3. G. Siva Manikanta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4. G. Avinash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30175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6B6D4"/>
                </a:solidFill>
              </a:rPr>
              <a:t>Academic Supervision: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6B6D4"/>
                </a:solidFill>
              </a:rPr>
              <a:t>Project Guide: Ms. Akshara Tiwari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6B6D4"/>
                </a:solidFill>
              </a:rPr>
              <a:t>Project Coordinator: Ms. Ritu Agrawal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6B6D4"/>
                </a:solidFill>
              </a:rPr>
              <a:t>Department of Artificial Intelligence &amp; Machine Learning (AIML)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6B6D4"/>
                </a:solidFill>
              </a:rPr>
              <a:t>Faculty of Engineering &amp; Technology, Parul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EXECUTIVE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Project Abstract &amp; Core Engineering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Project Motivation &amp; Scope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DiagnoLabs is developed to address the acute fragmentation and reliability crisis in India's diagnostic healthcare ecosystem.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The project delivers a production-grade, end-to-end medical platform combining Quality-Weighted Geospatial Lab Discovery, a 14-Tier Enterprise Role-Based Access System, Multimodal Clinical AI (Gemini 1.5 Flash), and Real-Time Sample Cold-Chain Tracking.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Key Project Deliverables Achieved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✓ Algorithmic NABL-Quality Geo Discovery prioritizes accredited labs.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✓ 14-Tier RBAC cleanly isolates clinical, operational, and admin roles.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✓ Multimodal AI OCR converts prescriptions directly to test bookings.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✓ Closed-Loop RLHF Telemetry keeps AI hallucination below 3.1%.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✓ Barcode-verified doorstep phlebotomy with cold-chain tracking.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✓ Dual-Database architecture (MongoDB Atlas + PostgreSQL ACID).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Diagnostic Pathology Inefficiencies in India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3F5E"/>
                </a:solidFill>
              </a:rPr>
              <a:t>80%+ Unaccredited Pathology Labs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Over 80% of local diagnostic labs in India operate without mandatory NABL/ICMR quality validation, creating high risk of misdiagnosis.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Severe Price Dispersion (Up to 400%)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Identical blood and radiology panels carry widely disparate costs due to lack of a standardized transparent pricing index.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</a:rPr>
              <a:t>Broken Phlebotomy Cold-Chain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Unmonitored field sample transit causes specimen hemolysis and degradation, forcing painful repeat blood draws for patients.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Complex Report Interpretation Gap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Patients struggle to understand raw clinical values, leading to unguided anxiety and delayed consultation with specialists.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LITERATURE SURVEY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Comparative Analysis with Existing Platforms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Feature / Parameter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4904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Traditional Labs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Tata 1mg / Practo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DiagnoLabs (Our System)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10424160" cy="0"/>
          </a:xfrm>
          <a:prstGeom prst="line">
            <a:avLst/>
          </a:prstGeom>
          <a:noFill/>
          <a:ln w="1905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NABL Quality-Ranked 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❌ Non-Existent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⚠️ Partial / Unranked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Custom Quality Algorithm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Enterprise 14-Tier RBAC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❌ Single Admin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⚠️ Coarse Roles (2-3)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14 Granular Isolated Roles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Multimodal Prescription OCR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❌ Manual Entry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⚠️ Delayed Human Review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Instant Gemini 1.5 Flash Vision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Self-Learning AI Telemetry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❌ No AI 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⚠️ Static Chatbot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RLHF Telemetry Loop (&lt;3.1% Err)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Doorstep Barcode Verification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❌ Manual Paper Slip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⚠️ Basic App Status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Strict Barcode-Tied Chain of Custody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166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Dual-Engine Database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49040" y="5166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❌ Single SQL/NoSQL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5166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⚠️ Monolithic Store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0" y="5166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MongoDB (Docs) + Postgres (Audit)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DiagnoLabs — 5 Core Architectural Pillars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121408" cy="4572000"/>
          </a:xfrm>
          <a:prstGeom prst="rect">
            <a:avLst/>
          </a:prstGeom>
          <a:solidFill>
            <a:srgbClr val="131C31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Geospatial Discovery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108960"/>
            <a:ext cx="18288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2918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Mathematical Haversine formula ranking accredited NABL laboratories over raw distance.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79776" y="1463040"/>
            <a:ext cx="2121408" cy="4572000"/>
          </a:xfrm>
          <a:prstGeom prst="rect">
            <a:avLst/>
          </a:prstGeom>
          <a:solidFill>
            <a:srgbClr val="131C31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16936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14-Tier Enterprise RBAC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16936" y="3108960"/>
            <a:ext cx="18288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6936" y="32918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Complete access segregation across clinical, operational, administrative &amp; patient portals.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10912" y="1463040"/>
            <a:ext cx="2121408" cy="4572000"/>
          </a:xfrm>
          <a:prstGeom prst="rect">
            <a:avLst/>
          </a:prstGeom>
          <a:solidFill>
            <a:srgbClr val="131C31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48072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Multimodal AI Copilot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48072" y="3108960"/>
            <a:ext cx="18288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8072" y="32918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Google Gemini 1.5 Flash assistant with handwritten prescription OCR &amp; report analysis.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42048" y="1463040"/>
            <a:ext cx="2121408" cy="4572000"/>
          </a:xfrm>
          <a:prstGeom prst="rect">
            <a:avLst/>
          </a:prstGeom>
          <a:solidFill>
            <a:srgbClr val="131C31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9208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79208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Phlebotomy Logistics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79208" y="3108960"/>
            <a:ext cx="18288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32918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Doorstep barcode tube pairing with real-time collector queue and status tracking.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73184" y="1463040"/>
            <a:ext cx="2121408" cy="4572000"/>
          </a:xfrm>
          <a:prstGeom prst="rect">
            <a:avLst/>
          </a:prstGeom>
          <a:solidFill>
            <a:srgbClr val="131C31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10344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610344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Dual-Engine Persistence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10344" y="3108960"/>
            <a:ext cx="18288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10344" y="329184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MongoDB Atlas for flexible test/patient data + PostgreSQL for ACID financial audit logs.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CORE INNOVATION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Quality-Weighted Geospatial Discovery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1371600"/>
          </a:xfrm>
          <a:prstGeom prst="rect">
            <a:avLst/>
          </a:prstGeom>
          <a:solidFill>
            <a:srgbClr val="0F243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Mathematical Model for Lab Optimization Ranking: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Rank Score (Si) = d_Haversine(Patient, Lab) / [ 1 + (w_nabl * α) + (w_rating * (ρ / 5)) + (w_speed * σ) 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303520" cy="301752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Mathematical Variables &amp; Weights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d_Haversine: Great-circle spherical distance between coordinates.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α (NABL Accreditation): Binary 1.0 for accredited; 0.0 for uncertified.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ρ (Clinical Rating): Verified patient review rating (1.0 - 5.0).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σ (Turnaround Index): Historical report SLA dispatch metric.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Assigned Weights: w_nabl = 0.50 | w_rating = 0.30 | w_speed = 0.20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3017520"/>
            <a:ext cx="5303520" cy="301752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Practical Validation &amp; Results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365760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✓ Prevents the "Nearby Trap": An unaccredited lab 1.2 km away is successfully downranked behind an NABL certified lab 3.5 km away.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✓ Patient Protection: Ensures high-stakes pathology tests (e.g. Biopsy, Cardiac markers) are routed to verified equipment.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✓ Auto Radius Optimization: Dynamically expands search radius if local accredited density is sparse.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SECURITY &amp; AUTHORIZATION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14-Tier Enterprise RBAC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1051560"/>
          </a:xfrm>
          <a:prstGeom prst="rect">
            <a:avLst/>
          </a:prstGeom>
          <a:solidFill>
            <a:srgbClr val="131C31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Clinical Tier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16002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[ Doctor | Pathologist | Phlebotomist | Nurse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Direct patient care, sample collection, digital report sign-off &amp; prescription review.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972800" cy="1051560"/>
          </a:xfrm>
          <a:prstGeom prst="rect">
            <a:avLst/>
          </a:prstGeom>
          <a:solidFill>
            <a:srgbClr val="131C31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Operations Tier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7889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[ Receptionist | Delivery Partner | Support Staff 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Patient check-in, physical vial transport, live chat queries &amp; helpdesk routing.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1051560"/>
          </a:xfrm>
          <a:prstGeom prst="rect">
            <a:avLst/>
          </a:prstGeom>
          <a:solidFill>
            <a:srgbClr val="131C31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Governance Tier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9776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[ Master Admin | Finance Mgr | Inventory Mgr | Marketing | Auditor | IT 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Reagent inventory alerts, payout settlements, audit compliance &amp; server telemetry.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0972800" cy="1051560"/>
          </a:xfrm>
          <a:prstGeom prst="rect">
            <a:avLst/>
          </a:prstGeom>
          <a:solidFill>
            <a:srgbClr val="131C31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66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Consumer Tier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51663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[ Registered Patient | Family Dependents 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Health records vault, multi-cart test booking, emergency SOS contacts &amp; prep guides.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ARTIFICIAL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Multimodal Gemini 1.5 Flash Clinical Copilot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AI Capabilities &amp; Modules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Powered by Google Gemini 1.5 Flash + Vision API.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Prescription OCR Tokenizer: Extracts doctor handwriting from uploaded images and maps them to catalog test codes.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Plain-Language Report Explainer: Breaks down medical abbreviations (e.g. SGPT, HbA1c, TSH) into clear lifestyle advice.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Voice-Enabled Bi-directional Chat: Built with Web Speech API for hands-free patient query input.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Deterministic Clinical Fallback Engine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High-Availability Architecture: If the external Gemini API is unreachable or rate-limited, the system seamlessly transitions to a local Clinical Intelligence Rule Base.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Role-Aware Prompt Injection: AI answers are dynamic based on user role (e.g. clinician gets scientific reference ranges; patient gets simplified guidance).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Automated Issue Dispatch: Detects negative sentiment and auto-routes tickets to hospital department heads.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ADAPTIVE MACHINE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Telemetry-Driven RLHF Self-Learning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Closed-Loop Feedback Architecture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Every AI-generated response includes interactive feedback triggers (👍 / 👎) and prompt rating telemetry.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When negative feedback or a corrected medical interpretation is submitted by doctors, the query-response pair is logged to a dedicated MongoDB Memory Collection for periodic prompt refinement.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303520" cy="2286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Observed Hallucination Metric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</a:rPr>
              <a:t>3.1%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Average clinical hallucination rate across 200+ test prompt validations.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5303520" cy="2286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931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Adaptive Intelligence Outcome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4389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Continuous prompt self-tuning without manual redeployment.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Auto-categorization of reported bugs into IT, Finance &amp; Sample logistics.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High accuracy in identifying test prep requirements (fasting hours, meds).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FIELD 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Phlebotomy Logistics &amp; Strict Chain of Custody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1. Order Dispatch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Geocoded booking assigned to nearest phlebotomist queue.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2. Doorstep Arrival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Phlebotomist validates patient identity &amp; preparation protocol.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661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3. Barcode Pairing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Blood collection vial barcode scanned &amp; locked to patient record.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661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4. Cold-Chain Transit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Sample secured in cold storage kit with timestamped transit updates.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749040"/>
            <a:ext cx="35661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5. Lab Verification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4434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Pathologist scans vial on arrival to verify seal &amp; temperature integrity.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749040"/>
            <a:ext cx="35661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6. Report Generation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4434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Test results compiled, digitally signed, and published to patient vault.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ENGINEERING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Full-Stack 3-Tier 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1417320"/>
          </a:xfrm>
          <a:prstGeom prst="rect">
            <a:avLst/>
          </a:prstGeom>
          <a:solidFill>
            <a:srgbClr val="131C31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</a:rPr>
              <a:t>TIER 1: CLIENT 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React 18 | Vite 7 | Framer Motion | Lucide Icons | Responsive PWA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Modular component hierarchy, zero-lag animations, voice recognition, and real-time dashboard state management.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0972800" cy="1417320"/>
          </a:xfrm>
          <a:prstGeom prst="rect">
            <a:avLst/>
          </a:prstGeom>
          <a:solidFill>
            <a:srgbClr val="131C31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TIER 2: REST SECURITY GATEWAY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2004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Node.js | Express 5 | JWT Auth | Helmet | Express-Rate-Limit | Mongo-Sanitize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Stateless API routing, token verification, NoSQL sanitization, rate limiting, and centralized error handling.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0972800" cy="1417320"/>
          </a:xfrm>
          <a:prstGeom prst="rect">
            <a:avLst/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00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TIER 3: DATA &amp; THIRD-PARTY ENGINES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48006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MongoDB Atlas | PostgreSQL | Google Gemini | Razorpay | Socket.io | Nodemailer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Dual-engine persistence, bi-directional websocket pub/sub, secure payments, and transaction email notifications.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DATABASE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Dual-Engine Persistence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MongoDB Atlas (NoSQL Document Engine)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Dynamic, High-Volume Clinical Records: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Patient Health Vault &amp; Family Member sub-documents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500+ Diagnostic Tests with dynamic preparation instructions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Real-Time Bookings &amp; Barcode Tracking states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Geospatial 2dsphere indexing for instant location discovery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AI Telemetry Memory logs for model RLHF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PostgreSQL (Relational ACID Ledger)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Immutable Financial &amp; Governance Ledger: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Master Administrator &amp; Staff Credentials store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Strict Foreign-Key integrity for hospital department nodes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ACID-Compliant financial revenue settlement ledger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System Access Audit Logs for regulatory compliance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Structured SQL reporting for executive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CYBERSECURITY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Security Architecture &amp; Data Privacy Protocols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Stateless JWT Auth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Secure token authentication with Bcrypt 10-round salted hashing; passwords permanently stripped from JSON responses.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3F5E"/>
                </a:solidFill>
              </a:rPr>
              <a:t>NoSQL &amp; XSS Defense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Express Mongo-Sanitize strips malicious query operators ($gt, $where); Helmet enforces strict HTTP headers &amp; CSP.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DDoS &amp; Rate Limiting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Express-Rate-Limit throttles brute-force attempts on sensitive login, registration, and OTP endpoints.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HIPAA &amp; PII Data Isolation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Role-based authorization middleware ensures patients only access their own reports and clinicians view authorized queues.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PROJECT SHOWCASE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Implemented Modules &amp; Live Screen Showcase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Patient Booking &amp; Discovery Portal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Geospatial test search, NABL badge indicators, smart preparation checklist, and multi-family dependent booking.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Multimodal AI Copilot Interface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Real-time conversational symptom triage, handwritten prescription scanner, report decoder, and automated issue routing.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949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Phlebotomist Field Logistics Console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Live doorstep collection queue, interactive navigation mapping, physical vial barcode scanner, and status sync.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949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Executive Multi-Role Admin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Comprehensive portal for Lab Managers, Finance, and Quality Auditors with revenue tracking and real-time inventory.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VALIDATION &amp; 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Experimental Performance &amp; System Benchmarks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&lt; 50ms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Average Database Latency on MongoDB Atlas Cluster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517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3.1%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2044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AI Hallucination Rate across 200+ Clinical Test Prompts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517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50%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Turnaround Time Reduction via Optimized Phlebotomy Routing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463040"/>
            <a:ext cx="26517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99.9%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9828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System Uptime Target with Dual-Engine Persistence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0972800" cy="2286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319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Summary of System Testing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3891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Functional Testing: Successfully tested all 14 RBAC user roles across booking, sample collection, report verification, and admin workflows.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Load &amp; Latency Benchmarks: Express API gateway sustained concurrent load tests without thread blocking.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Clinical AI Evaluation: Tested with varying quality prescription photos and laboratory PDF reports with high recognition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Project Defense Summary &amp; Acknowledgments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2834640"/>
          </a:xfrm>
          <a:prstGeom prst="rect">
            <a:avLst/>
          </a:prstGeom>
          <a:solidFill>
            <a:srgbClr val="131C31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Core Project Contributions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✓ Built and deployed a production-ready, clinical-grade medical diagnostics platform.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✓ Pioneered a Quality-Weighted Geospatial algorithm solving the "nearby unaccredited lab" trap.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✓ Implemented a comprehensive 14-Tier RBAC security matrix securing sensitive healthcare data.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✓ Integrated Multimodal Gemini 1.5 Flash AI with real-time RLHF telemetry for patient safety.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THANK YOU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Open for Project Evaluation, Demonstration &amp; Defense Questions.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532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Department of Artificial Intelligence &amp; Machine Learning (AIML) — Parul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2026-10-08T15:15:34Z</dcterms:created>
  <dcterms:modified xsi:type="dcterms:W3CDTF">2026-10-08T15:15:34Z</dcterms:modified>
</cp:coreProperties>
</file>