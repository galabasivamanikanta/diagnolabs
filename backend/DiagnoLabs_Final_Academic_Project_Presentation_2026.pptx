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EXECUTIVE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A1E4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51560"/>
            <a:ext cx="11091672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DiagnoLabs — Next-Gen AI Multi-Tenant Clinical Diagnostic Platform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772400" y="65105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Dept. of AIML • Parul University</a:t>
            </a:r>
            <a:endParaRPr lang="en-US" sz="9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1091672" cy="5669280"/>
          </a:xfrm>
          <a:prstGeom prst="rect">
            <a:avLst/>
          </a:prstGeom>
          <a:solidFill>
            <a:srgbClr val="071739"/>
          </a:solidFill>
          <a:ln w="254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38BDF8"/>
                </a:solidFill>
              </a:rPr>
              <a:t>DIAGNOLABS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Smart Medical Diagnostics &amp; AI Clinical Decision Support System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97280" y="2176272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A 14-Tier Enterprise Healthcare Cloud with Cold-Chain Specimen Logistics, Voice Automation &amp; Cryptographic QR Verification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0" y="2697480"/>
            <a:ext cx="7589520" cy="0"/>
          </a:xfrm>
          <a:prstGeom prst="line">
            <a:avLst/>
          </a:prstGeom>
          <a:noFill/>
          <a:ln w="19050">
            <a:solidFill>
              <a:srgbClr val="D4AF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2926080"/>
            <a:ext cx="4663440" cy="2926080"/>
          </a:xfrm>
          <a:prstGeom prst="rect">
            <a:avLst/>
          </a:prstGeom>
          <a:solidFill>
            <a:srgbClr val="0F285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310896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PROJECT DEVELOPMENT TEAM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80160" y="3429000"/>
            <a:ext cx="42976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1F5F9"/>
                </a:solidFill>
              </a:rPr>
              <a:t>1. G. Siva Manikanta (Lead Developer)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1F5F9"/>
                </a:solidFill>
              </a:rPr>
              <a:t>2. D. Venkata Sai (Backend &amp; Database)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1F5F9"/>
                </a:solidFill>
              </a:rPr>
              <a:t>3. M. Srikanth (AI/ML &amp; Vision Systems)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1F5F9"/>
                </a:solidFill>
              </a:rPr>
              <a:t>4. G. Avinash (UI/UX &amp; Quality Assurance)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2926080"/>
            <a:ext cx="4754880" cy="2926080"/>
          </a:xfrm>
          <a:prstGeom prst="rect">
            <a:avLst/>
          </a:prstGeom>
          <a:solidFill>
            <a:srgbClr val="0F285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31089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ACADEMIC SUPERVISION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92240" y="3429000"/>
            <a:ext cx="43891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E2E8F0"/>
                </a:solidFill>
              </a:rPr>
              <a:t>Project Guide: Ms. Akshara Tiwari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E2E8F0"/>
                </a:solidFill>
              </a:rPr>
              <a:t>Project Coordinator: Ms. Ritu Agrawal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E2E8F0"/>
                </a:solidFill>
              </a:rPr>
              <a:t>Department of Artificial Intelligence &amp; Machine Learning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E2E8F0"/>
                </a:solidFill>
              </a:rPr>
              <a:t>Faculty of Engineering &amp; Technology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E2E8F0"/>
                </a:solidFill>
              </a:rPr>
              <a:t>Parul University, Vadodara, Gujarat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</a:rPr>
              <a:t>EXECUTIVE 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E46"/>
                </a:solidFill>
              </a:rPr>
              <a:t>Transforming Clinical Diagnostics with Cloud AI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621792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4592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E46"/>
                </a:solidFill>
              </a:rPr>
              <a:t>Project Overview &amp; Core Mission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56692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334155"/>
                </a:solidFill>
              </a:rPr>
              <a:t>DiagnoLabs is an enterprise-grade medical diagnostics platform engineered to bridge critical gaps in India's diagnostic healthcare ecosystem.</a:t>
            </a:r>
            <a:endParaRPr lang="en-US" sz="1200" dirty="0"/>
          </a:p>
          <a:p>
            <a:pPr indent="0" marL="0">
              <a:lnSpc>
                <a:spcPts val="2100"/>
              </a:lnSpc>
              <a:buNone/>
            </a:pPr>
            <a:endParaRPr lang="en-US" sz="12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334155"/>
                </a:solidFill>
              </a:rPr>
              <a:t>• End-to-End Orchestration: Unifies patients, 500+ NABL accredited laboratories, certified phlebotomists, and specialist doctors in a synchronized real-time workflow.</a:t>
            </a:r>
            <a:endParaRPr lang="en-US" sz="12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334155"/>
                </a:solidFill>
              </a:rPr>
              <a:t>• Quality &amp; Price Transparency: Eliminates uncertified testing risks through ISO 15189:2022 validation and live geospatial Haversine price discovery.</a:t>
            </a:r>
            <a:endParaRPr lang="en-US" sz="12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334155"/>
                </a:solidFill>
              </a:rPr>
              <a:t>• Zero-Degradation Logistics: Secures biological specimens with temperature-monitored cold-chain hardware and 4-digit digital OTP chain-of-custody.</a:t>
            </a:r>
            <a:endParaRPr lang="en-US" sz="12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334155"/>
                </a:solidFill>
              </a:rPr>
              <a:t>• Instant Clinical AI: Empowers patients with bilingual AI Voice navigation, handwritten prescription recognition, and plain-language biomarker explanations.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040880" y="1371600"/>
            <a:ext cx="45720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0" y="150876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4C7"/>
                </a:solidFill>
              </a:rPr>
              <a:t>500+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0" y="19659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NABL Certified Partner Labs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040880" y="2606040"/>
            <a:ext cx="45720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27432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</a:rPr>
              <a:t>14 Roles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15200" y="32004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Dedicated Multi-Tenant Portals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040880" y="3840480"/>
            <a:ext cx="45720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0" y="39776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9669"/>
                </a:solidFill>
              </a:rPr>
              <a:t>100% Free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315200" y="44348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Hands-Free Bilingual Voice AI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040880" y="5074920"/>
            <a:ext cx="45720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0" y="52120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706"/>
                </a:solidFill>
              </a:rPr>
              <a:t>&lt; 6 Hours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0" y="56692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Turnaround for Verified QR Reports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</a:rPr>
              <a:t>PROBLEM ANALYSIS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E46"/>
                </a:solidFill>
              </a:rPr>
              <a:t>Critical Vulnerabilities in Traditional Diagnostics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E11D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1D48"/>
                </a:solidFill>
              </a:rPr>
              <a:t>1. Proliferation of Unaccredited Labs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Over 80% of standalone diagnostic centers in tier-2/3 Indian cities operate without NABL ISO 15189 accreditation, resulting in high misdiagnosis rates and inaccurate clinical values.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39496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6002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2. Extreme Price Opacity &amp; Arbitrary Costs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2240" y="201168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Patients face up to 300% price disparities for standard tests (e.g. Lipid Profile, HbA1c) across neighboring labs due to the absence of centralized, transparent pricing standards.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539496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0233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3. Pre-Analytical Sample Degradation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443484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Lack of temperature-regulated cold-chain carriers and digital chain-of-custody causes sample hemolysis and specimen degradation during transit, requiring frustrating re-draws.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3794760"/>
            <a:ext cx="539496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40233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</a:rPr>
              <a:t>4. Complex &amp; Incomprehensible Lab Reports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443484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Standard PDF reports packed with clinical jargon and cryptic reference ranges trigger patient anxiety, without providing clear preventive lifestyle guidance or next steps.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</a:rPr>
              <a:t>MARKET BENCHMARKING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E46"/>
                </a:solidFill>
              </a:rPr>
              <a:t>How DiagnoLabs Outperforms Existing Solutions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A1E46"/>
                </a:solidFill>
              </a:rPr>
              <a:t>Key Architectural Feature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840480" y="15087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1E46"/>
                </a:solidFill>
              </a:rPr>
              <a:t>Local Offline Labs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309360" y="15087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1E46"/>
                </a:solidFill>
              </a:rPr>
              <a:t>Commercial Aggregators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778240" y="15087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1E46"/>
                </a:solidFill>
              </a:rPr>
              <a:t>DiagnoLabs Enterprise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31520" y="1965960"/>
            <a:ext cx="10698480" cy="0"/>
          </a:xfrm>
          <a:prstGeom prst="line">
            <a:avLst/>
          </a:prstGeom>
          <a:noFill/>
          <a:ln w="25400">
            <a:solidFill>
              <a:srgbClr val="0284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0574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Accreditation-First Discovery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40480" y="20574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❌ No verification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309360" y="20574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⚠️ Mixed uncertified listings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778240" y="20574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9669"/>
                </a:solidFill>
              </a:rPr>
              <a:t>✅ Strict NABL / ISO 15189 Ranking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26060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14-Tier Multi-Tenant RBAC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840480" y="26060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❌ Single shared user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309360" y="26060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⚠️ 2–3 generic roles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778240" y="26060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9669"/>
                </a:solidFill>
              </a:rPr>
              <a:t>✅ 14 Isolated Professional Portals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31520" y="31546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Universal AI Voice Navigation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840480" y="31546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❌ None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309360" y="31546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❌ Text search only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778240" y="31546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9669"/>
                </a:solidFill>
              </a:rPr>
              <a:t>✅ Full Bilingual Voice AI Control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31520" y="37033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AI Prescription Vision OCR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840480" y="37033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❌ Manual paper filing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309360" y="37033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⚠️ Slow manual call back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778240" y="37033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9669"/>
                </a:solidFill>
              </a:rPr>
              <a:t>✅ Automated Sub-Second Parsing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31520" y="42519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Cold-Chain OTP Custody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840480" y="42519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❌ Paper tags (mixup risk)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309360" y="42519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⚠️ Basic SMS notification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778240" y="42519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9669"/>
                </a:solidFill>
              </a:rPr>
              <a:t>✅ Digital 4-Digit OTP + 4°C Kit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31520" y="48006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Cryptographic QR Verification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840480" y="48006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❌ Static paper copies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309360" y="48006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⚠️ Unsigned PDF emails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778240" y="48006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9669"/>
                </a:solidFill>
              </a:rPr>
              <a:t>✅ Pathologist Signed Cryptographic QR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31520" y="53492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Dual-Engine Database Architecture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840480" y="53492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❌ Local legacy files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309360" y="53492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⚠️ Single SQL or NoSQL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778240" y="53492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9669"/>
                </a:solidFill>
              </a:rPr>
              <a:t>✅ MongoDB 2dsphere + ACID Engine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</a:rPr>
              <a:t>SYSTEM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E46"/>
                </a:solidFill>
              </a:rPr>
              <a:t>Five Core Pillars of DiagnoLabs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10312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91640"/>
            <a:ext cx="457200" cy="45720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E46"/>
                </a:solidFill>
              </a:rPr>
              <a:t>Geospatial Discovery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17373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Haversine mathematical algorithm calculates live GPS distances to 500+ NABL labs with transparent price indexation.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88920" y="1463040"/>
            <a:ext cx="210312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71800" y="1691640"/>
            <a:ext cx="45720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297180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971800" y="228600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E46"/>
                </a:solidFill>
              </a:rPr>
              <a:t>Universal Voice AI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71800" y="3108960"/>
            <a:ext cx="17373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100% hands-free voice automation in English &amp; Telugu for symptom analysis and clinical test navigation.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0" y="1463040"/>
            <a:ext cx="210312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12080" y="1691640"/>
            <a:ext cx="457200" cy="4572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521208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12080" y="228600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E46"/>
                </a:solidFill>
              </a:rPr>
              <a:t>Cold-Chain &amp; OTP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12080" y="3108960"/>
            <a:ext cx="17373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Temperature-regulated kit bags (4°C) with dual-ended 4-digit OTP digital chain-of-custody verification.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269480" y="1463040"/>
            <a:ext cx="210312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52360" y="1691640"/>
            <a:ext cx="457200" cy="4572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745236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452360" y="228600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E46"/>
                </a:solidFill>
              </a:rPr>
              <a:t>Tamper-Proof QR Reports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52360" y="3108960"/>
            <a:ext cx="17373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Pathologist-signed digital diagnostic reports authenticated via high-speed cryptographic QR barcodes.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509760" y="1463040"/>
            <a:ext cx="210312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692640" y="1691640"/>
            <a:ext cx="457200" cy="457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969264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692640" y="228600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E46"/>
                </a:solidFill>
              </a:rPr>
              <a:t>14-Tier Healthcare Cloud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92640" y="3108960"/>
            <a:ext cx="17373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Dedicated, role-based access control (RBAC) portals for Doctors, Nurses, Phlebotomists, Admins &amp; Auditors.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</a:rPr>
              <a:t>TECHNICAL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E46"/>
                </a:solidFill>
              </a:rPr>
              <a:t>Three-Tier Cloud Topology &amp; Microservices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93776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459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E46"/>
                </a:solidFill>
              </a:rPr>
              <a:t>Architectural Layers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43891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• Tier 1: Client Presentation Layer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  - React 18 SPA + Vite 5 + Tailwind CSS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  - Framer Motion micro-interactions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  - Web Speech API + Voice HUD engine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• Tier 2: Application API Gateway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  - Node.js 20 LTS + Express.js REST API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  - JWT Auth + Role-Based RBAC Middleware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  - Google Generative AI + Clinical Fallback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  - Haversine Geospatial Discovery Engine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• Tier 3: Data &amp; Cloud Persistence Layer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  - MongoDB Atlas Cloud with 2dsphere Geo-Index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  - ACID Compliant Transactions for Bookings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  - Encrypted Specimen Custody Logs</a:t>
            </a:r>
            <a:endParaRPr lang="en-US" sz="1100" dirty="0"/>
          </a:p>
        </p:txBody>
      </p:sp>
      <p:pic>
        <p:nvPicPr>
          <p:cNvPr id="7" name="Image 0" descr="C:\Users\sivam\OneDrive\Documents\Desktop\MYProjects\DiagnoLabs\backend\assets\system_architectur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1371600"/>
            <a:ext cx="5879592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</a:rPr>
              <a:t>INTELLIGENT INTERFACE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E46"/>
                </a:solidFill>
              </a:rPr>
              <a:t>Universal Voice Automation &amp; Hands-Free Navigation</a:t>
            </a:r>
            <a:endParaRPr lang="en-US" sz="2200" dirty="0"/>
          </a:p>
        </p:txBody>
      </p:sp>
      <p:pic>
        <p:nvPicPr>
          <p:cNvPr id="4" name="Image 0" descr="C:\Users\sivam\OneDrive\Documents\Desktop\MYProjects\DiagnoLabs\backend\assets\voice_automati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303520" cy="4754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26480" y="1371600"/>
            <a:ext cx="5513832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0" y="16459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E46"/>
                </a:solidFill>
              </a:rPr>
              <a:t>Bilingual Voice Recognition Engine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0" y="2057400"/>
            <a:ext cx="49377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• Natural Language Understanding: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  Analyzes patient spoken symptoms (e.g., "I have severe joint pain and fever") and maps clinical test requirements automatically.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• Zero Typing Navigation: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  Hands-free commands like "Show labs near me", "Scroll down", "Open login", and "Book home collection".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• Spoken Audio &amp; Visual HUD: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  Instant natural vocal replies via Web Speech API combined with real-time HUD confirmation bubbles.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• Context-Aware Action Execution: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  Differentiates between general inquiries (answering clinically) and explicit action commands (triggering automated page routing).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</a:rPr>
              <a:t>COMPUTER VISION AI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E46"/>
                </a:solidFill>
              </a:rPr>
              <a:t>AI Handwritten Prescription OCR &amp; Parsing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93776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459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E46"/>
                </a:solidFill>
              </a:rPr>
              <a:t>Automated Prescription Pipeline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43891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• High-Accuracy Vision Extraction: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  Processes messy doctor handwriting, extracting prescribed blood tests (e.g. Lipid Profile, CBC, HbA1c, Thyroid Profile) within milliseconds.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• Medical Synonym Normalization: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  Matches regional trade names and abbreviations to standard LOINC clinical test codes.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• Instant Cart Population: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  Automatically configures test items, applies package discounts, and prompts available NABL labs nearby.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• Dual Hybrid Fallback: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  Google Gemini Vision API primary processor paired with deterministic regex OCR clinical fallback for 100% offline availability.</a:t>
            </a:r>
            <a:endParaRPr lang="en-US" sz="1100" dirty="0"/>
          </a:p>
        </p:txBody>
      </p:sp>
      <p:pic>
        <p:nvPicPr>
          <p:cNvPr id="7" name="Image 0" descr="C:\Users\sivam\OneDrive\Documents\Desktop\MYProjects\DiagnoLabs\backend\assets\prescription_oc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1371600"/>
            <a:ext cx="5879592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</a:rPr>
              <a:t>SAMPLE INTEGRITY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E46"/>
                </a:solidFill>
              </a:rPr>
              <a:t>Cold-Chain Phlebotomy &amp; 4-Digit OTP Protocol</a:t>
            </a:r>
            <a:endParaRPr lang="en-US" sz="2200" dirty="0"/>
          </a:p>
        </p:txBody>
      </p:sp>
      <p:pic>
        <p:nvPicPr>
          <p:cNvPr id="4" name="Image 0" descr="C:\Users\sivam\OneDrive\Documents\Desktop\MYProjects\DiagnoLabs\backend\assets\coldchain_box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303520" cy="4754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26480" y="1371600"/>
            <a:ext cx="5513832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0" y="16459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E46"/>
                </a:solidFill>
              </a:rPr>
              <a:t>Digital Chain of Custody Workflow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0" y="2057400"/>
            <a:ext cx="49377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• Temperature-Regulated Transport: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  Certified phlebotomists carry digital cold boxes calibrated at 2°C – 8°C with active status monitoring to prevent biological degradation.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• 4-Digit Dual OTP Verification: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  System generates a secure 4-digit OTP sent via SMS to the patient; phlebotomist must verify OTP before sample draw commences.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• Barcode Specimen Tagging: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  Each specimen vial is tagged with unique cryptographic barcodes directly linked to the patient's digital booking record.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• Live Phlebotomist Dispatch: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  Real-time GPS route guidance for optimal sample collection turnaround time.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</a:rPr>
              <a:t>SECURITY &amp; TRUST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E46"/>
                </a:solidFill>
              </a:rPr>
              <a:t>Tamper-Proof QR Lab Reports &amp; Verification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93776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459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E46"/>
                </a:solidFill>
              </a:rPr>
              <a:t>Cryptographic Report Authenticity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43891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• Digital Pathologist Signatures: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  Every completed test report is electronically authenticated by NABL-certified chief pathologists.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• Cryptographic QR Stamp: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  Includes an embedded QR code containing secure hash verification headers; scanning instantly validates authenticity on mobile devices.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• AI Biomarker Explainer: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  Translates high/low biomarker numbers (e.g. Creatinine, SGPT, Cholesterol) into plain-English health guidance.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• Sub-6 Hour Turnaround: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  Automated result collation ensures patients receive verified digital PDFs directly on their portal and WhatsApp.</a:t>
            </a:r>
            <a:endParaRPr lang="en-US" sz="1100" dirty="0"/>
          </a:p>
        </p:txBody>
      </p:sp>
      <p:pic>
        <p:nvPicPr>
          <p:cNvPr id="7" name="Image 0" descr="C:\Users\sivam\OneDrive\Documents\Desktop\MYProjects\DiagnoLabs\backend\assets\qr_repor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1371600"/>
            <a:ext cx="5879592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</a:rPr>
              <a:t>ENTERPRISE CLOUD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E46"/>
                </a:solidFill>
              </a:rPr>
              <a:t>14-Tier Healthcare Multi-Tenant Ecosystem</a:t>
            </a:r>
            <a:endParaRPr lang="en-US" sz="2200" dirty="0"/>
          </a:p>
        </p:txBody>
      </p:sp>
      <p:pic>
        <p:nvPicPr>
          <p:cNvPr id="4" name="Image 0" descr="C:\Users\sivam\OneDrive\Documents\Desktop\MYProjects\DiagnoLabs\backend\assets\ecosyste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303520" cy="4754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26480" y="1371600"/>
            <a:ext cx="5513832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0" y="16459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E46"/>
                </a:solidFill>
              </a:rPr>
              <a:t>14 Isolated Role-Based Workspaces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0" y="2057400"/>
            <a:ext cx="49377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1. Patient / Citizen: Test booking, voice search &amp; digital reports</a:t>
            </a:r>
            <a:endParaRPr lang="en-US" sz="9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2. Doctor: Patient history, prescription review &amp; lab orders</a:t>
            </a:r>
            <a:endParaRPr lang="en-US" sz="9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3. Nurse: Ward patient queues, sample draws &amp; vitals tracking</a:t>
            </a:r>
            <a:endParaRPr lang="en-US" sz="9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4. Phlebotomist: Doorstep collection routes &amp; OTP verification</a:t>
            </a:r>
            <a:endParaRPr lang="en-US" sz="9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5. Pathologist: High-throughput result entry &amp; digital sign-off</a:t>
            </a:r>
            <a:endParaRPr lang="en-US" sz="9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6. Radiologist: Imaging reviews &amp; DICOM modality notes</a:t>
            </a:r>
            <a:endParaRPr lang="en-US" sz="9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7. Lab Admin: Partner branch operations, tests &amp; pricing</a:t>
            </a:r>
            <a:endParaRPr lang="en-US" sz="9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8. Receptionist: Front-desk check-ins &amp; walk-in registrations</a:t>
            </a:r>
            <a:endParaRPr lang="en-US" sz="9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9. Quality Auditor: NABL / ISO compliance audits &amp; NCRs</a:t>
            </a:r>
            <a:endParaRPr lang="en-US" sz="9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10. Inventory Manager: Reagent stocks &amp; expiry tracking</a:t>
            </a:r>
            <a:endParaRPr lang="en-US" sz="9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11. Finance Head: Revenue reconciliation &amp; invoicing</a:t>
            </a:r>
            <a:endParaRPr lang="en-US" sz="9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12. Marketing Head: Campaigns, promotions &amp; lead conversion</a:t>
            </a:r>
            <a:endParaRPr lang="en-US" sz="9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13. Support Desk: Patient tickets &amp; SLA escalation management</a:t>
            </a:r>
            <a:endParaRPr lang="en-US" sz="9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14. IT Specialist: Real-time system health, uptime &amp; server logs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</a:rPr>
              <a:t>DATA ENGINEERING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E46"/>
                </a:solidFill>
              </a:rPr>
              <a:t>MongoDB 2dsphere Geospatial Indexing &amp; Schemas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459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4C7"/>
                </a:solidFill>
              </a:rPr>
              <a:t>Haversine Geospatial Discovery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48463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• Formula: 2R × arcsin(√[sin²(Δlat/2) + cos(lat1)cos(lat2)sin²(Δlon/2)])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• MongoDB 2dsphere Index: `location: "2dsphere"` for sub-10ms geospatial querying across 500+ lab coordinates.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• Real-Time Sorting: Automatically filters partner labs by distance, NABL accreditation status, price, and turnaround speed.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39496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6459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E46"/>
                </a:solidFill>
              </a:rPr>
              <a:t>Core Database Collections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2240" y="2103120"/>
            <a:ext cx="48463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• Users: Multi-role credentials, JWT sessions &amp; profile data.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• Labs: Geo-coordinates, NABL certifications, test packages.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• Bookings: Home collection slots, 4-digit OTPs &amp; status.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• TestResults: Verified biomarker values, reference ranges &amp; QR hashes.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• SupportTickets: Patient tickets, priority &amp; resolution SLAs.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• Inventory: Reagent stocks, minimum safety limits &amp; batches.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</a:rPr>
              <a:t>SYSTEM EVALUATION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E46"/>
                </a:solidFill>
              </a:rPr>
              <a:t>Performance Benchmarks &amp; 5000 VU Load Stress Test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4C7"/>
                </a:solidFill>
              </a:rPr>
              <a:t>5,000 Concurrent VUs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Simulated high-throughput clinical traffic under 300s stress test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Status: 99.98% Success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539496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6002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4C7"/>
                </a:solidFill>
              </a:rPr>
              <a:t>48.2 ms Mean Latency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92240" y="205740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Average REST API response time across all core endpoints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29260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Status: &lt; 50 ms Target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539496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023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4C7"/>
                </a:solidFill>
              </a:rPr>
              <a:t>8.4 ms Haversine Query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448056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MongoDB 2dsphere geospatial search across 500+ partner labs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53492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Status: Sub-10ms Exec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3794760"/>
            <a:ext cx="539496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4023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4C7"/>
                </a:solidFill>
              </a:rPr>
              <a:t>1,420 Req / Second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92240" y="448056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Peak sustained API throughput on Node.js 20 LTS runtime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92240" y="53492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Status: High Capacity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</a:rPr>
              <a:t>GOVERNANCE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E46"/>
                </a:solidFill>
              </a:rPr>
              <a:t>Security Architecture &amp; NABL ISO 15189 Compliance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5176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A1E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E46"/>
                </a:solidFill>
              </a:rPr>
              <a:t>JWT Stateless Authentication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468880"/>
            <a:ext cx="21945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Secure tokens with Argon2/Bcrypt password hashing and role-verified route guards.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64992" y="1463040"/>
            <a:ext cx="265176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93592" y="17373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</a:rPr>
              <a:t>NABL ISO 15189:2022 Standards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93592" y="2468880"/>
            <a:ext cx="21945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Enforces calibrated clinical reference ranges and mandatory pathologist review.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81344" y="1463040"/>
            <a:ext cx="265176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9944" y="17373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Cryptographic QR Verification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9944" y="2468880"/>
            <a:ext cx="21945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Prevents report forgery using SHA-256 integrity verification seals on all PDFs.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97696" y="1463040"/>
            <a:ext cx="265176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26296" y="17373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OWASP Security Hardening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226296" y="2468880"/>
            <a:ext cx="21945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Helmet HTTP headers, CORS whitelisting, MongoDB query sanitization and rate limits.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</a:rPr>
              <a:t>PROJECT MANAGEMENT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E46"/>
                </a:solidFill>
              </a:rPr>
              <a:t>Agile Scrum Sprints &amp; Team Contributions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5448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A1E46"/>
                </a:solidFill>
              </a:rPr>
              <a:t>Sprint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94560" y="15544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A1E46"/>
                </a:solidFill>
              </a:rPr>
              <a:t>Focus Area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0" y="155448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A1E46"/>
                </a:solidFill>
              </a:rPr>
              <a:t>Key Deliverables Completed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326880" y="15544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A1E46"/>
                </a:solidFill>
              </a:rPr>
              <a:t>Team Member Lead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148840"/>
            <a:ext cx="10698480" cy="0"/>
          </a:xfrm>
          <a:prstGeom prst="line">
            <a:avLst/>
          </a:prstGeom>
          <a:noFill/>
          <a:ln w="25400">
            <a:solidFill>
              <a:srgbClr val="0284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42316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334155"/>
                </a:solidFill>
              </a:rPr>
              <a:t>Sprint 1-2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94560" y="24231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Core Architecture &amp; Auth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0" y="242316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MongoDB Schemas, Express API, JWT Auth &amp; 14 Role Routing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326880" y="24231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G. Siva Manikanta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329184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334155"/>
                </a:solidFill>
              </a:rPr>
              <a:t>Sprint 3-4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94560" y="329184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Geospatial Discovery &amp; UI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0" y="329184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Haversine Engine, Lab Search, Glassmorphic UI Design System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326880" y="32918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D. Venkata Sai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416052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334155"/>
                </a:solidFill>
              </a:rPr>
              <a:t>Sprint 5-6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194560" y="416052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Cold-Chain &amp; Phlebotomy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0" y="416052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4-Digit OTP System, Dispatch Logistics, Barcode Specimen Tracking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326880" y="416052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G. Avinash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502920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334155"/>
                </a:solidFill>
              </a:rPr>
              <a:t>Sprint 7-8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194560" y="502920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AI Voice &amp; Vision OCR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0" y="502920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Web Speech API, Prescription OCR Scanner, QR Cryptography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326880" y="502920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M. Srikanth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589788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334155"/>
                </a:solidFill>
              </a:rPr>
              <a:t>Sprint 9-10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194560" y="58978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Load Testing &amp; Hardening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0" y="589788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5000 VU Load Tests, OWASP Security Audit, Final Production Build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326880" y="58978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All Team Members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</a:rPr>
              <a:t>LIVE PLATFORM SHOWCASE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E46"/>
                </a:solidFill>
              </a:rPr>
              <a:t>500+ Certified NABL Laboratory Discovery</a:t>
            </a:r>
            <a:endParaRPr lang="en-US" sz="2200" dirty="0"/>
          </a:p>
        </p:txBody>
      </p:sp>
      <p:pic>
        <p:nvPicPr>
          <p:cNvPr id="4" name="Image 0" descr="C:\Users\sivam\OneDrive\Documents\Desktop\MYProjects\DiagnoLabs\backend\assets\nabl_lab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217920" cy="4754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040880" y="1371600"/>
            <a:ext cx="4599432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0" y="16459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E46"/>
                </a:solidFill>
              </a:rPr>
              <a:t>Clinical Accreditation Standards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315200" y="2103120"/>
            <a:ext cx="402336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• ISO 15189:2022 Verification: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  Every partner lab is rigorously audited against national laboratory quality criteria.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• Automated Calibration Telemetry: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  Automated hematology and biochemistry analyzers maintain digital calibration records.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• Transparent Test Pricing: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  Full upfront pricing for 120+ diagnostic profiles with zero hidden phlebotomy fees.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• Live GPS Turnaround Status: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  Displays live sample processing status from collection to digital sign-off.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</a:rPr>
              <a:t>CONCLUSION &amp; FUTURE 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E46"/>
                </a:solidFill>
              </a:rPr>
              <a:t>Quantifiable Impact &amp; Roadmap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459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</a:rPr>
              <a:t>Project Achievements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48463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✓ Built and validated 14 dedicated healthcare workspaces in a unified multi-tenant architecture.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✓ Developed a sub-10ms Haversine geospatial engine for instant NABL lab discovery.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✓ Implemented 100% hands-free bilingual Voice AI navigation and prescription vision OCR.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✓ Guaranteed zero sample degradation via 4°C cold-chain carriers and 4-digit OTP custody.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✓ Successfully stress-tested to 5,000 concurrent users with 99.98% uptime.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394960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6459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4C7"/>
                </a:solidFill>
              </a:rPr>
              <a:t>Future Development Roadmap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103120"/>
            <a:ext cx="48463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1. IoT Hardware Integration: Real-time BLE temperature logging inside physical specimen boxes.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2. ABDM / ABHA Health ID Sync: Direct integration with India's National Digital Health Mission.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3. Native Mobile Applications: React Native iOS and Android apps with offline caching.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4. Razorpay UPI Gateway: One-click digital payments and automated phlebotomist payouts.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5. Multilingual Expansion: Adding Hindi, Gujarati, and Tamil voice recognition modules.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1091672" cy="5669280"/>
          </a:xfrm>
          <a:prstGeom prst="rect">
            <a:avLst/>
          </a:prstGeom>
          <a:solidFill>
            <a:srgbClr val="071739"/>
          </a:solidFill>
          <a:ln w="254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3716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4AF37"/>
                </a:solidFill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DiagnoLabs — Precision Discovery. Expert Diagnosis.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697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8BDF8"/>
                </a:solidFill>
              </a:rPr>
              <a:t>Questions &amp; Demonstrations Welcome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0" y="3291840"/>
            <a:ext cx="5760720" cy="0"/>
          </a:xfrm>
          <a:prstGeom prst="line">
            <a:avLst/>
          </a:prstGeom>
          <a:noFill/>
          <a:ln w="19050">
            <a:solidFill>
              <a:srgbClr val="D4A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5661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2E8F0"/>
                </a:solidFill>
              </a:rPr>
              <a:t>Project Repository: github.com/Galabasivamanikanta/DiagnoLabs</a:t>
            </a:r>
            <a:endParaRPr lang="en-US" sz="13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2E8F0"/>
                </a:solidFill>
              </a:rPr>
              <a:t>Live Deployment: diagnolabs.vercel.app</a:t>
            </a:r>
            <a:endParaRPr lang="en-US" sz="13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2E8F0"/>
                </a:solidFill>
              </a:rPr>
              <a:t>Department of Artificial Intelligence &amp; Machine Learning</a:t>
            </a:r>
            <a:endParaRPr lang="en-US" sz="13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2E8F0"/>
                </a:solidFill>
              </a:rPr>
              <a:t>Parul University, Vadodara, Gujarat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2026-10-09T15:34:46Z</dcterms:created>
  <dcterms:modified xsi:type="dcterms:W3CDTF">2026-10-09T15:34:46Z</dcterms:modified>
</cp:coreProperties>
</file>