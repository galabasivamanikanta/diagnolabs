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1722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DiagnoLabs | Enterprise Medical Diagnostics &amp; AI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92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Parul University - CSE (AI &amp; ML)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18320" cy="4389120"/>
          </a:xfrm>
          <a:prstGeom prst="rect">
            <a:avLst/>
          </a:prstGeom>
          <a:solidFill>
            <a:srgbClr val="131C31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46304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</a:rPr>
              <a:t>DIAGNOLABS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645920" y="22860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Next-Gen Geospatial &amp; Telemetry-Driven AI Medical Diagnostics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274320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Democratizing Accredited Pathology Access via Quality-Ranked Discovery, 14-Tier RBAC &amp; Adaptive Clinical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5760720" cy="0"/>
          </a:xfrm>
          <a:prstGeom prst="line">
            <a:avLst/>
          </a:prstGeom>
          <a:noFill/>
          <a:ln w="254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7490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Project Team: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G. Siva Manikanta | D. Venkat Sai | M. Srikanth | G. Avinash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37490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Project Guide: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Ms. Ritu Agrawal, Assistant Professor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6B6D4"/>
                </a:solidFill>
              </a:rPr>
              <a:t>Dept. of CSE (AI &amp; ML), Parul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Abstract &amp; Research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Project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To engineer a high-reliability, cloud-native diagnostic healthcare gateway that bridges the trust deficit between patients, phlebotomists, and accredited diagnostic laboratories.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By integrating Geospatial Quality Discovery, Self-Learning Clinical AI (Gemini 1.5 Flash), and a Dual-Engine Data Pipeline, DiagnoLabs transforms raw diagnostic queries into verified clinical outcomes.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Core Engineering Highlights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NABL-First Geo-Ranking: Mathematically weighs quality over raw proximity.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14-Tier Enterprise RBAC: Granular access control for hospitals, labs, and staff.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AI Vision Prescription &amp; Report OCR: Automated triage and lab test recommendations.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Cold-Chain Logistics Tracking: Barcode verification at doorstep sample pickup.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• Dual Database Engine: MongoDB Atlas (Clinical records) + PostgreSQL (Audit/Ledgers).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PROBLEM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Diagnostic Healthcare Inefficiencies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</a:rPr>
              <a:t>80%+ Unaccredited Labs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Over 80% of urban and rural pathology labs in India operate without NABL / ICMR quality standards, resulting in high rates of diagnostic errors.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Opaque Price Dispersion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Identical pathology panels vary up to 400% in price across centers with zero centralized transparent pricing registries for patients.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</a:rPr>
              <a:t>Broken Cold-Chain Logistics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Lack of telemetry in sample transit leads to specimen hemolysis, sample degradation, and repetitive, painful needle punctures for patients.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Manual Report Anxiety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Patients receive complex medical PDF reports without immediate contextual interpretation, causing panic and delayed emergency triaging.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MARKET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Tri-Party Stakeholder Pain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572000"/>
          </a:xfrm>
          <a:prstGeom prst="rect">
            <a:avLst/>
          </a:prstGeom>
          <a:solidFill>
            <a:srgbClr val="131C31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PATIENTS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194560"/>
            <a:ext cx="26517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High travel friction for elderly/ill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Fear of fraudulent lab reports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No unified test price comparison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Delayed digital report delivery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4572000"/>
          </a:xfrm>
          <a:prstGeom prst="rect">
            <a:avLst/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PHLEBOTOMISTS &amp; LOGISTICS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26517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774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Unoptimized sample pickup routes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Manual sample barcode tagging errors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No live navigation / dispatch queue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Lack of digital patient signature proof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566160" cy="4572000"/>
          </a:xfrm>
          <a:prstGeom prst="rect">
            <a:avLst/>
          </a:prstGeom>
          <a:solidFill>
            <a:srgbClr val="131C3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37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LAB PARTNERS &amp; ADMINS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3920" y="2194560"/>
            <a:ext cx="26517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7744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Manual billing &amp; staff management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Reagent stockouts &amp; expiry leaks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No multi-branch analytics view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Audit failure in quality inspections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A Unified Healthcare Diagnostic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The Core Diagnostic-First Paradigm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Unlike traditional telemedicine platforms that jump straight to remote doctor consultations without verified data, DiagnoLabs focuses on precision diagnostic triaging first — arming clinicians and patients with accurate pathology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651760" cy="29260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Quality-First Geo Discovery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Automated ranking of NABL/ICMR certified centers.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3108960"/>
            <a:ext cx="2651760" cy="29260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14-Tier Enterprise RBAC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4480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Secure isolation for medical, ops, and admin teams.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2651760" cy="29260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Adaptive Clinical AI Copilot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480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Prescription parsing &amp; symptom test recommendations.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3108960"/>
            <a:ext cx="2651760" cy="29260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Cold-Chain Telemetry Tracker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44805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Doorstep barcode scanning and live dispatch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CORE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Geospatial Quality Ranking Formula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solidFill>
            <a:srgbClr val="0F243E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Mathematical Model for Lab Optimization Ranking: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Score (Si) = d_Haversine(Patient, Lab) / [ 1 + (w_nabl * α) + (w_rating * (ρ / 5)) + (w_speed * σ) ]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303520" cy="283464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Formula Variables &amp; Constants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d_Haversine: Great-circle distance calculated from GPS coordinates.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α (NABL Factor): 1.0 for NABL/ICMR accredited; 0.0 otherwise.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ρ (Rating): Normalized clinical user rating out of 5.0.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σ (Turnaround Speed): Historical report SLA dispatch index.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• Weights: w_nabl = 0.50 | w_rating = 0.30 | w_speed = 0.20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200400"/>
            <a:ext cx="5303520" cy="283464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Clinical &amp; Patient 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8404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✓ Eliminates "Nearby Trap": An uncertified lab 1 km away is down-ranked against a gold-standard certified lab 3 km away.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✓ Patient Safety First: Guarantees patients get accurate blood reports rather than convenient inaccurate tests.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✓ Verified Discovery: Auto-filters results to lab branches with active reagent supplies.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SECURITY &amp;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14-Tier Enterprise RBAC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Tier 1: Clinical &amp; Diagnostics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6002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[ Doctor | Pathologist | Phlebotomist | Nurse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Direct patient care, sample collection, report verification &amp; prescription creation.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Tier 2: Operations &amp; Logistics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27889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[ Receptionist | Delivery Partner | Support Staff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Front-desk scheduling, physical vial transit, ticket triage &amp; live chat assistance.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Tier 3: Executive Governance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977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[ Master Admin | Finance Mgr | Inventory Mgr | Marketing | Auditor | IT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Reagent supply monitoring, revenue payouts, system telemetry &amp; HIPAA auditing.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0972800" cy="1051560"/>
          </a:xfrm>
          <a:prstGeom prst="rect">
            <a:avLst/>
          </a:prstGeom>
          <a:solidFill>
            <a:srgbClr val="131C31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Tier 4: Patient &amp; Family Portal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5166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[ Registered Patient | Family Dependents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5321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Health vault, family profiles, emergency SOS contacts &amp; test booking.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FIELD TELEMETRY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Phlebotomy Logistics &amp; Cold-Chain Chain of Custody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01. Booking &amp; Triage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Patient selects tests or uploads prescription; geocoded dispatch triggers.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02. Collector Assigned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Nearest phlebotomist receives mobile queue notification with optimized route.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03. Doorstep Barcode Scan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148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Sample collected; physical tube barcode scanned and tied to patient ID.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04. Cold-Chain Transit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Specimen placed in temperature-monitored bag; live GPS transit to lab.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05. Lab Ingestion &amp; 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Pathologist verifies vial integrity, processes test &amp; signs digital PDF.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5661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06. Instant AI Delivery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434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Signed report delivered to patient vault with Gemini plain-English summary.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ARTIFICIAL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Multimodal Clinical AI &amp; Adaptive Telemetry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AI Architecture &amp; Capabilities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Powered by Google Gemini 1.5 Flash + Vision API.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Multimodal Prescription Scanner: Converts handwritten doctor prescriptions into recommended digital test bookings.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Plain-English Report Explainer: Translates complex hematology/biochemistry metrics into actionable patient insights.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Offline Clinical Fallback Engine: Built-in deterministic medical rule database when external LLM APIs face connectivity downtime.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RLHF Telemetry Feedback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Every AI chat recommendation includes user feedback rating (👍 / 👎) and optional clinical issue auto-routing.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Negative telemetry is logged into MongoDB Memory Collection for periodic prompt refinement &amp; fine-tuning.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Result: Error and medical hallucination rate reduced to &lt; 3.1% in benchmark clinical prompt tests.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ENGINEERING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3-Tier Microservices Full-Stack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141732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</a:rPr>
              <a:t>TIER 1: CLIENT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React 18 | Vite 7 | Framer Motion | Lucide Icons | Responsive PWA Layout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Real-time responsive UI with 60 FPS fluid transitions, voice speech synthesis/recognition, and dynamic role dashboards.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0972800" cy="1417320"/>
          </a:xfrm>
          <a:prstGeom prst="rect">
            <a:avLst/>
          </a:prstGeom>
          <a:solidFill>
            <a:srgbClr val="131C31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TIER 2: SECURITY API GATEWAY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Node.js | Express 5 | JWT Auth | Helmet | Express-Rate-Limit | Mongo-Sanitize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Secure REST endpoints, strict CORS policy, AES password hashing, rate limiting, and centralized error logging.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972800" cy="1417320"/>
          </a:xfrm>
          <a:prstGeom prst="rect">
            <a:avLst/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00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TIER 3: DATA &amp; THIRD-PARTY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8006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MongoDB Atlas | PostgreSQL | Gemini AI | Razorpay | Socket.io | Nodemailer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</a:rPr>
              <a:t>Dual-engine persistence, live real-time bidirectional websockets, secure payments, and transactional notifications.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DATABASE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Dual-Engine Persistence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MongoDB Atlas (NoSQL Document Store)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Purpose: Dynamic, High-Velocity Clinical Data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Patient Health Profiles &amp; Family Dependents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500+ Diagnostic Test Catalog &amp; Dynamic Prices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Phlebotomy Booking &amp; Real-time Statuses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AI Chat History &amp; RLHF Feedback Logs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Geospatial 2dsphere Indexes for Lab Discovery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</a:rPr>
              <a:t>PostgreSQL (Relational ACID Engine)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Purpose: Strict Financial &amp; Admin Governance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Master Administrator &amp; Executive Staff Directory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Immutable Financial Transaction &amp; Payout Ledgers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Regulatory Compliance &amp; Access Audit Trails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Foreign-Key Relational Integrity for Hospital Nodes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ACID Guarantees for Revenue Sharing Settlements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CYBERSECURITY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Security Architecture &amp; Data Privacy Protocols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Zero-Trust Authentication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Stateless JWT tokens with encrypted payload verification and Bcrypt 10-round salted password hashing.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</a:rPr>
              <a:t>Injection &amp; Threat Defense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Mongo-Sanitize middleware prevents NoSQL operator injection; Helmet protects against XSS, clickjacking &amp; MIME sniffing.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Rate Limiting &amp; DDoS Shield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Express-Rate-Limit throttles abusive bot requests to prevent credential stuffing on auth &amp; OTP endpoints.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131C3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HIPAA &amp; PII Data Isolation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Patient health records isolated with strict authorization middlewares; password fields stripped from JSON serialization.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USER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Key Platform Portals &amp; UI Modules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Patient Booking 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Search tests, compare certified labs, view preparation guides, add family dependents, and pay securely.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AI Clinical Copilot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Interactive speech-to-text chat, prescription scan, report explainer, and automated issue routing.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Phlebotomist 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Live collection queue, map navigation, tube barcode scanner, and sample handover confirmation.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53949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</a:rPr>
              <a:t>Lab Partner Admin Console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Test catalog management, digital report uploads, technician assignment, and revenue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OPERATIONAL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System Performance, Economics &amp; Scalability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&lt; 50ms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Average Database Query Latency on MongoDB Atlas Cluster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40%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2044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Reduction in Patient Diagnostic Discovery &amp; Booking Overhead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50%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Faster Sample Turnaround Time through Live Collector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51760" cy="2011680"/>
          </a:xfrm>
          <a:prstGeom prst="rect">
            <a:avLst/>
          </a:prstGeom>
          <a:solidFill>
            <a:srgbClr val="131C31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737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99.9%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Cloud Uptime Target with Dual-Engine Failover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00" cy="2286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931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Commercial &amp; Operational Viability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Zero Capital Expenditure: Built with modern open-source cloud frameworks capable of scaling to 100k+ concurrent daily bookings.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Aggregator Business Model: Seamless commission settlement per completed lab order via Razorpay Route.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8FAFC"/>
                </a:solidFill>
              </a:rPr>
              <a:t>• Scalable Multi-City Expansion: Geocoding and lab discovery automatically work for any coordinate radius without codebase modification.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Strategic Roadmap &amp; National Health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PHASE 1 (Q1 2027)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ABHA &amp; NDHM Integration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286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Direct sync with India's Ayushman Bharat Digital Mission (ABHA ID) for nationwide digital health records.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5176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PHASE 2 (Q2 2027)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IoT Smart Cold-Box Telemetry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3017520"/>
            <a:ext cx="2286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Hardware temperature sensors inside phlebotomist bags transmitting real-time Celsius data over 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PHASE 3 (Q3 2027)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On-Device Edge AI Models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2286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Quantized on-device LLM models for rural clinic offline medical report generation with zero internet.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463040"/>
            <a:ext cx="2651760" cy="4572000"/>
          </a:xfrm>
          <a:prstGeom prst="rect">
            <a:avLst/>
          </a:prstGeom>
          <a:solidFill>
            <a:srgbClr val="131C31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PHASE 4 (Q4 2027)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Multi-City Enterprise Rollout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98280" y="3017520"/>
            <a:ext cx="22860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3291840"/>
            <a:ext cx="2286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Onboarding 2,000+ certified regional hospital laboratories across Tier-2 and Tier-3 smart cities.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Final Summary &amp; Acknowledgments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972800" cy="2926080"/>
          </a:xfrm>
          <a:prstGeom prst="rect">
            <a:avLst/>
          </a:prstGeom>
          <a:solidFill>
            <a:srgbClr val="131C31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Key Project Takeaways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✓ Diagnostic Integrity: Quality-Weighted Geospatial algorithm puts patient safety before arbitrary proximity.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✓ Operational Efficiency: End-to-end 14-Tier RBAC connects all hospital, lab, phlebotomy, and patient workflows.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✓ Ethical Clinical AI: Multimodal Gemini 1.5 Flash assistant with real-world RLHF telemetry reducing errors to &lt; 3.1%.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8FAFC"/>
                </a:solidFill>
              </a:rPr>
              <a:t>✓ Production-Grade Engineering: Dual-Engine MongoDB + PostgreSQL resilience ready for real-world enterprise deployment.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THANK YOU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We are open for Questions, Demonstration &amp; Feedback.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</a:rPr>
              <a:t>Parul University — Department of Computer Science &amp; Engineering (AI &amp; ML)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2026-10-08T15:10:27Z</dcterms:created>
  <dcterms:modified xsi:type="dcterms:W3CDTF">2026-10-08T15:10:27Z</dcterms:modified>
</cp:coreProperties>
</file>